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7" r:id="rId3"/>
    <p:sldId id="278" r:id="rId4"/>
    <p:sldId id="279" r:id="rId5"/>
    <p:sldId id="264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77" d="100"/>
          <a:sy n="177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Entrada no negativo</c:v>
                </c:pt>
              </c:strCache>
            </c:strRef>
          </c:tx>
          <c:spPr>
            <a:solidFill>
              <a:srgbClr val="6B625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C94-5247-B0C2-0D0A1230C126}"/>
              </c:ext>
            </c:extLst>
          </c:dPt>
          <c:dPt>
            <c:idx val="1"/>
            <c:invertIfNegative val="0"/>
            <c:bubble3D val="0"/>
            <c:spPr>
              <a:solidFill>
                <a:srgbClr val="EC7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94-5247-B0C2-0D0A1230C12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F5F1EC"/>
                    </a:solidFill>
                    <a:latin typeface="Arial"/>
                  </a:defRPr>
                </a:pPr>
                <a:endParaRPr lang="en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Sem agente</c:v>
                </c:pt>
                <c:pt idx="1">
                  <c:v>Com agente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20.9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94-5247-B0C2-0D0A1230C1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9B0A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8131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parte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Fluxo de uma mensagem no chat: o app (BFF Express) chama o financial-agent. O agente valida a entrada no guardrails em paralelo com a busca do snapshot no data-manager (asyncio.gather). O Gemini só redige a partir dos números. A saída passa de novo no guardrails, que inclui o juiz de tom one-shot (gemini-2.5-flash-lite, ~0,9 s, fail-open se passar de 1,2 s). Fora do caminho: o dm-pipeline é um Cloud Run Job que roda o SQL de features e classificação; a observabilidade recebe eventos via BackgroundTasks; o juiz completo (DSPy/ADK) está no Agent Engine, mas é lento demais (~2,4 s) para ficar no caminho síncrono. Se o agente cair, o BFF tem fallback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não calcula: toda matemática (projeção dia a dia até o salário, score de 6 sinais, impacto em dias de cada ajuste) é determinística no data_manager. Fail-closed: indisponibilidade do guardrails no /chat ou na saída do /analyze devolve 503. Exceção consciente: o juiz de tom é fail-open, porque tom ruim é menos grave que resposta perigosa. Zero-trust: SA squad-agent-sa, tokens OIDC com cache de 50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Juiz de tom: base ouro com 47 mensagens (28 aprovadas, 19 reprovadas). DSPy + Gemini; publicado como agente ADK no Agent Engine. No caminho síncrono usamos uma versão one-shot com gemini-2.5-flash-lite dentro do guardrails (código S10, decisão reescrever); se passar de 1,2 s, segue sem bloquear. Ponto fraco conhecido: falsa aprovação ainda alta (~42%). Memória: o data-manager registra decisões do cliente (/memoria/decisoes, /memoria/poupar). Hoje vive no processo (Firestore bloqueado no projeto); a interface já está pronta para trocar de backend. Além disso, na conversa, os últimos turnos entram no prompt (SessionMemoryStore no agente).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 norte: taxa de entrada no negativo, tratamento × controle. No piloto simulado: 10,0% com agente contra 20,9% sem (acumulado; em dezembro a diferença chega a 18 pp). Métricas de apoio, todas expostas em /v1/metricas: like rate (67,8% no ano), aceite de ajustes (15,4% dos alertas), taxa de fallback do filtro de saída (caindo de 14,5% para 6,2%), 24,5% das conversas com intervenção. Deixar claro que a base é simulada: o schema é o mesmo dos eventos reais, então a troca é direta.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opcional. Firestore está bloqueado pela org hoje, por isso a memória ainda vive em processo com max-instances=1.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dentro do i.a na medida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 agente decide, se protege e é medido.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Itaú · Grupo 4 · Batalha de Agentes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26680" y="4315968"/>
            <a:ext cx="777240" cy="329184"/>
          </a:xfrm>
          <a:prstGeom prst="roundRect">
            <a:avLst>
              <a:gd name="adj" fmla="val 22222"/>
            </a:avLst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 txBox="1"/>
          <p:nvPr/>
        </p:nvSpPr>
        <p:spPr>
          <a:xfrm>
            <a:off x="7726680" y="431596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658368" y="3474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pipeline: do app à resposta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5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CAMINHO DA RESPOSTA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19200"/>
            <a:ext cx="1778000" cy="10668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" name="Text 4"/>
          <p:cNvSpPr txBox="1"/>
          <p:nvPr/>
        </p:nvSpPr>
        <p:spPr>
          <a:xfrm>
            <a:off x="571500" y="1308100"/>
            <a:ext cx="154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itau-app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5113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fala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1803400"/>
            <a:ext cx="1549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ou recebe um aviso no app do Itaú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24100" y="1752600"/>
            <a:ext cx="194691" cy="0"/>
          </a:xfrm>
          <a:prstGeom prst="line">
            <a:avLst/>
          </a:prstGeom>
          <a:noFill/>
          <a:ln w="19050">
            <a:solidFill>
              <a:srgbClr val="FF9A3D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2607691" y="1219200"/>
            <a:ext cx="1778000" cy="10668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2721991" y="1308100"/>
            <a:ext cx="154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721991" y="15113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721991" y="1803400"/>
            <a:ext cx="1549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manipulação e dados pessoais, em paralelo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74591" y="1752600"/>
            <a:ext cx="194818" cy="0"/>
          </a:xfrm>
          <a:prstGeom prst="line">
            <a:avLst/>
          </a:prstGeom>
          <a:noFill/>
          <a:ln w="19050">
            <a:solidFill>
              <a:srgbClr val="FF9A3D"/>
            </a:solidFill>
            <a:prstDash val="dash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4059809" y="2590800"/>
            <a:ext cx="3175000" cy="5588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 txBox="1"/>
          <p:nvPr/>
        </p:nvSpPr>
        <p:spPr>
          <a:xfrm>
            <a:off x="4212209" y="2667000"/>
            <a:ext cx="127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data-manager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212209" y="2844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2209" y="2654300"/>
            <a:ext cx="1600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Estado, projeção e ajustes já calculados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25209" y="1752600"/>
            <a:ext cx="194691" cy="0"/>
          </a:xfrm>
          <a:prstGeom prst="line">
            <a:avLst/>
          </a:prstGeom>
          <a:noFill/>
          <a:ln w="19050">
            <a:solidFill>
              <a:srgbClr val="FF9A3D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4758309" y="1219200"/>
            <a:ext cx="1778000" cy="10668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 txBox="1"/>
          <p:nvPr/>
        </p:nvSpPr>
        <p:spPr>
          <a:xfrm>
            <a:off x="4872609" y="1308100"/>
            <a:ext cx="154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financial-agent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4872609" y="15113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Redação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72609" y="1803400"/>
            <a:ext cx="1549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transforma números em conversa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69509" y="2324100"/>
            <a:ext cx="0" cy="228600"/>
          </a:xfrm>
          <a:prstGeom prst="line">
            <a:avLst/>
          </a:prstGeom>
          <a:noFill/>
          <a:ln w="19050">
            <a:solidFill>
              <a:srgbClr val="FF9A3D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60" name="Arrow up"/>
          <p:cNvSpPr/>
          <p:nvPr/>
        </p:nvSpPr>
        <p:spPr>
          <a:xfrm flipV="1">
            <a:off x="5825109" y="2324100"/>
            <a:ext cx="0" cy="228600"/>
          </a:xfrm>
          <a:prstGeom prst="line">
            <a:avLst/>
          </a:prstGeom>
          <a:noFill/>
          <a:ln w="19050">
            <a:solidFill>
              <a:srgbClr val="FF9A3D"/>
            </a:solidFill>
            <a:prstDash val="solid"/>
            <a:tailEnd type="triangle"/>
          </a:ln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6908800" y="1219200"/>
            <a:ext cx="1778000" cy="10668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 txBox="1"/>
          <p:nvPr/>
        </p:nvSpPr>
        <p:spPr>
          <a:xfrm>
            <a:off x="7023100" y="1308100"/>
            <a:ext cx="1549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023100" y="15113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023100" y="1803400"/>
            <a:ext cx="1549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 resposta e </a:t>
            </a:r>
            <a:r>
              <a:rPr lang="en-US" sz="900" dirty="0" err="1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checa</a:t>
            </a:r>
            <a:r>
              <a:rPr lang="en-US" sz="9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tom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2527300"/>
            <a:ext cx="342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filtro de entrada roda em paralelo: a mensagem segue direto para o agente, sem esperar.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969000" y="3276600"/>
            <a:ext cx="2717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FORA DO CAMINHO · BATCH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69000" y="3530600"/>
            <a:ext cx="2717800" cy="5080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 txBox="1"/>
          <p:nvPr/>
        </p:nvSpPr>
        <p:spPr>
          <a:xfrm>
            <a:off x="6096000" y="3594100"/>
            <a:ext cx="246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dm-pipeline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6000" y="3797300"/>
            <a:ext cx="246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os dados de cada cliente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69000" y="4114800"/>
            <a:ext cx="2717800" cy="5080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 txBox="1"/>
          <p:nvPr/>
        </p:nvSpPr>
        <p:spPr>
          <a:xfrm>
            <a:off x="6096000" y="4178300"/>
            <a:ext cx="246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6000" y="4381500"/>
            <a:ext cx="246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Mede se o agente ajudou o cliente</a:t>
            </a:r>
            <a:endParaRPr lang="en-US" sz="850" dirty="0"/>
          </a:p>
        </p:txBody>
      </p:sp>
      <p:sp>
        <p:nvSpPr>
          <p:cNvPr id="61" name="Label 61"/>
          <p:cNvSpPr txBox="1"/>
          <p:nvPr/>
        </p:nvSpPr>
        <p:spPr>
          <a:xfrm>
            <a:off x="4123309" y="23368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 os números</a:t>
            </a:r>
            <a:endParaRPr lang="en-US" sz="950" dirty="0"/>
          </a:p>
        </p:txBody>
      </p:sp>
      <p:sp>
        <p:nvSpPr>
          <p:cNvPr id="62" name="Label 62"/>
          <p:cNvSpPr txBox="1"/>
          <p:nvPr/>
        </p:nvSpPr>
        <p:spPr>
          <a:xfrm>
            <a:off x="5901309" y="2336800"/>
            <a:ext cx="127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devolve prontos</a:t>
            </a:r>
            <a:endParaRPr lang="en-US" sz="950" dirty="0"/>
          </a:p>
        </p:txBody>
      </p:sp>
      <p:sp>
        <p:nvSpPr>
          <p:cNvPr id="70" name="Item 70"/>
          <p:cNvSpPr txBox="1"/>
          <p:nvPr/>
        </p:nvSpPr>
        <p:spPr>
          <a:xfrm>
            <a:off x="457200" y="3276600"/>
            <a:ext cx="533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FINANCIAL-AGENT FAZ</a:t>
            </a:r>
            <a:endParaRPr lang="en-US" sz="900" dirty="0"/>
          </a:p>
        </p:txBody>
      </p:sp>
      <p:sp>
        <p:nvSpPr>
          <p:cNvPr id="71" name="Item 71"/>
          <p:cNvSpPr/>
          <p:nvPr/>
        </p:nvSpPr>
        <p:spPr>
          <a:xfrm>
            <a:off x="457200" y="3530600"/>
            <a:ext cx="2578100" cy="5080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2" name="Item 72"/>
          <p:cNvSpPr txBox="1"/>
          <p:nvPr/>
        </p:nvSpPr>
        <p:spPr>
          <a:xfrm>
            <a:off x="584200" y="359410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o mês</a:t>
            </a:r>
            <a:endParaRPr lang="en-US" sz="1000" dirty="0"/>
          </a:p>
        </p:txBody>
      </p:sp>
      <p:sp>
        <p:nvSpPr>
          <p:cNvPr id="73" name="Item 73"/>
          <p:cNvSpPr txBox="1"/>
          <p:nvPr/>
        </p:nvSpPr>
        <p:spPr>
          <a:xfrm>
            <a:off x="584200" y="3797300"/>
            <a:ext cx="2324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Projeta o saldo e o dia em que ele acaba</a:t>
            </a:r>
            <a:endParaRPr lang="en-US" sz="850" dirty="0"/>
          </a:p>
        </p:txBody>
      </p:sp>
      <p:sp>
        <p:nvSpPr>
          <p:cNvPr id="74" name="Item 74"/>
          <p:cNvSpPr/>
          <p:nvPr/>
        </p:nvSpPr>
        <p:spPr>
          <a:xfrm>
            <a:off x="3175000" y="3530600"/>
            <a:ext cx="2578100" cy="5080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5" name="Item 75"/>
          <p:cNvSpPr txBox="1"/>
          <p:nvPr/>
        </p:nvSpPr>
        <p:spPr>
          <a:xfrm>
            <a:off x="3302000" y="359410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Sugere ajustes</a:t>
            </a:r>
            <a:endParaRPr lang="en-US" sz="1000" dirty="0"/>
          </a:p>
        </p:txBody>
      </p:sp>
      <p:sp>
        <p:nvSpPr>
          <p:cNvPr id="76" name="Item 76"/>
          <p:cNvSpPr txBox="1"/>
          <p:nvPr/>
        </p:nvSpPr>
        <p:spPr>
          <a:xfrm>
            <a:off x="3302000" y="3797300"/>
            <a:ext cx="2324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esforço primeiro, com os dias ganhos</a:t>
            </a:r>
            <a:endParaRPr lang="en-US" sz="850" dirty="0"/>
          </a:p>
        </p:txBody>
      </p:sp>
      <p:sp>
        <p:nvSpPr>
          <p:cNvPr id="77" name="Item 77"/>
          <p:cNvSpPr/>
          <p:nvPr/>
        </p:nvSpPr>
        <p:spPr>
          <a:xfrm>
            <a:off x="457200" y="4114800"/>
            <a:ext cx="2578100" cy="5080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78" name="Item 78"/>
          <p:cNvSpPr txBox="1"/>
          <p:nvPr/>
        </p:nvSpPr>
        <p:spPr>
          <a:xfrm>
            <a:off x="584200" y="417830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Avisa no Pix</a:t>
            </a:r>
            <a:endParaRPr lang="en-US" sz="1000" dirty="0"/>
          </a:p>
        </p:txBody>
      </p:sp>
      <p:sp>
        <p:nvSpPr>
          <p:cNvPr id="79" name="Item 79"/>
          <p:cNvSpPr txBox="1"/>
          <p:nvPr/>
        </p:nvSpPr>
        <p:spPr>
          <a:xfrm>
            <a:off x="584200" y="4381500"/>
            <a:ext cx="2324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pagamento deixa o mês negativo</a:t>
            </a:r>
            <a:endParaRPr lang="en-US" sz="850" dirty="0"/>
          </a:p>
        </p:txBody>
      </p:sp>
      <p:sp>
        <p:nvSpPr>
          <p:cNvPr id="80" name="Item 80"/>
          <p:cNvSpPr/>
          <p:nvPr/>
        </p:nvSpPr>
        <p:spPr>
          <a:xfrm>
            <a:off x="3175000" y="4114800"/>
            <a:ext cx="2578100" cy="508000"/>
          </a:xfrm>
          <a:prstGeom prst="roundRect">
            <a:avLst>
              <a:gd name="adj" fmla="val 9231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1" name="Item 81"/>
          <p:cNvSpPr txBox="1"/>
          <p:nvPr/>
        </p:nvSpPr>
        <p:spPr>
          <a:xfrm>
            <a:off x="3302000" y="417830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</a:t>
            </a:r>
            <a:endParaRPr lang="en-US" sz="1000" dirty="0"/>
          </a:p>
        </p:txBody>
      </p:sp>
      <p:sp>
        <p:nvSpPr>
          <p:cNvPr id="82" name="Item 82"/>
          <p:cNvSpPr txBox="1"/>
          <p:nvPr/>
        </p:nvSpPr>
        <p:spPr>
          <a:xfrm>
            <a:off x="3302000" y="4381500"/>
            <a:ext cx="23241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 dúvidas com os números já prontos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70523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658368" y="3474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regras que não negociamos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59740" y="1325880"/>
            <a:ext cx="3957320" cy="2926080"/>
          </a:xfrm>
          <a:prstGeom prst="roundRect">
            <a:avLst>
              <a:gd name="adj" fmla="val 4286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Shape 9"/>
          <p:cNvSpPr/>
          <p:nvPr/>
        </p:nvSpPr>
        <p:spPr>
          <a:xfrm>
            <a:off x="688340" y="1600200"/>
            <a:ext cx="502920" cy="50292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" y="17259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8340" y="2235200"/>
            <a:ext cx="3632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 fica fora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88340" y="2624328"/>
            <a:ext cx="350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sugere cortar saúde, moradia, mercado, educação, dívidas ou pet.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88340" y="3520440"/>
            <a:ext cx="350012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Text 13"/>
          <p:cNvSpPr txBox="1"/>
          <p:nvPr/>
        </p:nvSpPr>
        <p:spPr>
          <a:xfrm>
            <a:off x="688340" y="3611880"/>
            <a:ext cx="350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só em assinaturas repetidas, datas e extras.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29480" y="1325880"/>
            <a:ext cx="3957320" cy="2926080"/>
          </a:xfrm>
          <a:prstGeom prst="roundRect">
            <a:avLst>
              <a:gd name="adj" fmla="val 4286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5"/>
          <p:cNvSpPr/>
          <p:nvPr/>
        </p:nvSpPr>
        <p:spPr>
          <a:xfrm>
            <a:off x="4958080" y="1600200"/>
            <a:ext cx="502920" cy="50292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Text 16"/>
          <p:cNvSpPr txBox="1"/>
          <p:nvPr/>
        </p:nvSpPr>
        <p:spPr>
          <a:xfrm>
            <a:off x="4958080" y="2235200"/>
            <a:ext cx="3632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decide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4958080" y="2624328"/>
            <a:ext cx="350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agente mostra as opções e o cliente escolhe: nenhum Pix é bloqueado e nenhuma ação acontece sem a confirmação dele.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958080" y="3520440"/>
            <a:ext cx="350012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19"/>
          <p:cNvSpPr txBox="1"/>
          <p:nvPr/>
        </p:nvSpPr>
        <p:spPr>
          <a:xfrm>
            <a:off x="4958080" y="3611880"/>
            <a:ext cx="350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insiste: o que o cliente recusa sai da lista.</a:t>
            </a:r>
            <a:endParaRPr lang="en-US" sz="1100" dirty="0"/>
          </a:p>
        </p:txBody>
      </p:sp>
      <p:pic>
        <p:nvPicPr>
          <p:cNvPr id="26" name="Graphic 26" descr="Impressão digital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1727200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06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658368" y="3474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vai além do básico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16687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Juiz de tom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48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resposta passa por um avaliador de empatia antes de chegar ao cliente.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715768"/>
            <a:ext cx="342900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 txBox="1"/>
          <p:nvPr/>
        </p:nvSpPr>
        <p:spPr>
          <a:xfrm>
            <a:off x="731520" y="33375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33375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aprendeu o tom certo com mensagens avaliadas pelo time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264408"/>
            <a:ext cx="342900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 txBox="1"/>
          <p:nvPr/>
        </p:nvSpPr>
        <p:spPr>
          <a:xfrm>
            <a:off x="731520" y="2788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 resposta sai do tom, o agente reescreve antes de enviar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3813048"/>
            <a:ext cx="342900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Text 13"/>
          <p:cNvSpPr txBox="1"/>
          <p:nvPr/>
        </p:nvSpPr>
        <p:spPr>
          <a:xfrm>
            <a:off x="731520" y="3886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737360" y="3886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versão completa revisa as conversas e refina o critério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09160" y="1280160"/>
            <a:ext cx="3977640" cy="3246120"/>
          </a:xfrm>
          <a:prstGeom prst="roundRect">
            <a:avLst>
              <a:gd name="adj" fmla="val 3380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6"/>
          <p:cNvSpPr/>
          <p:nvPr/>
        </p:nvSpPr>
        <p:spPr>
          <a:xfrm>
            <a:off x="4983480" y="1554480"/>
            <a:ext cx="457200" cy="45720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1668780"/>
            <a:ext cx="228600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77840" y="1554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de longo prazo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4983480" y="21488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mês apertado revela muito sobre o cliente, e o agente guarda isso para os próximos meses.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983480" y="2715768"/>
            <a:ext cx="342900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Text 20"/>
          <p:cNvSpPr txBox="1"/>
          <p:nvPr/>
        </p:nvSpPr>
        <p:spPr>
          <a:xfrm>
            <a:off x="4983480" y="2788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Escolha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98932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lembra o que ele aceitou e não insiste no que recusou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983480" y="3264408"/>
            <a:ext cx="342900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Text 23"/>
          <p:cNvSpPr txBox="1"/>
          <p:nvPr/>
        </p:nvSpPr>
        <p:spPr>
          <a:xfrm>
            <a:off x="4983480" y="33375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5989320" y="333756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a meta de reserva e o total poupado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983480" y="3813048"/>
            <a:ext cx="3429000" cy="0"/>
          </a:xfrm>
          <a:prstGeom prst="line">
            <a:avLst/>
          </a:prstGeom>
          <a:noFill/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Text 26"/>
          <p:cNvSpPr txBox="1"/>
          <p:nvPr/>
        </p:nvSpPr>
        <p:spPr>
          <a:xfrm>
            <a:off x="4983480" y="38862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</a:t>
            </a:r>
            <a:endParaRPr lang="en-US" sz="1600" dirty="0"/>
          </a:p>
        </p:txBody>
      </p:sp>
      <p:sp>
        <p:nvSpPr>
          <p:cNvPr id="31" name="Text 27"/>
          <p:cNvSpPr txBox="1"/>
          <p:nvPr/>
        </p:nvSpPr>
        <p:spPr>
          <a:xfrm>
            <a:off x="5989320" y="388620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o resultado do mês anterior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15300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658368" y="3474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vamos medir sucesso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206240" cy="3246120"/>
          </a:xfrm>
          <a:prstGeom prst="roundRect">
            <a:avLst>
              <a:gd name="adj" fmla="val 3380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 NORTE · CLIENTES SALVOS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entrada no vermelho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2103120"/>
          <a:ext cx="38404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5"/>
          <p:cNvSpPr/>
          <p:nvPr/>
        </p:nvSpPr>
        <p:spPr>
          <a:xfrm>
            <a:off x="4937760" y="123444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Text 6"/>
          <p:cNvSpPr txBox="1"/>
          <p:nvPr/>
        </p:nvSpPr>
        <p:spPr>
          <a:xfrm>
            <a:off x="5166360" y="1344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Satisfação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aprova a resposta com um like no app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937760" y="237744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 txBox="1"/>
          <p:nvPr/>
        </p:nvSpPr>
        <p:spPr>
          <a:xfrm>
            <a:off x="5166360" y="2487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Adesão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que terminam com um ajuste aceito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37760" y="352044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1B1A19"/>
          </a:solidFill>
          <a:ln w="9525">
            <a:solidFill>
              <a:srgbClr val="2A232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Text 12"/>
          <p:cNvSpPr txBox="1"/>
          <p:nvPr/>
        </p:nvSpPr>
        <p:spPr>
          <a:xfrm>
            <a:off x="5166360" y="36301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9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4087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que o filtro de saída precisou trocar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A/B simulado: 400 clientes, 12 meses de 2025 · dataset observabilidade no BigQuery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3175417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4864" cy="457200"/>
          </a:xfrm>
          <a:prstGeom prst="roundRect">
            <a:avLst>
              <a:gd name="adj" fmla="val 50000"/>
            </a:avLst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 txBox="1"/>
          <p:nvPr/>
        </p:nvSpPr>
        <p:spPr>
          <a:xfrm>
            <a:off x="658368" y="34747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447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Memória persistente: </a:t>
            </a:r>
            <a:r>
              <a:rPr lang="en-US" sz="14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tirar a memória do processo e levar para um banco, mantendo a mesma interface.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 txBox="1"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1343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reais: </a:t>
            </a:r>
            <a:r>
              <a:rPr lang="en-US" sz="14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trocar a simulação pelos eventos de produção, incluindo o like/dislike do app.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rgbClr val="EC7000"/>
          </a:solidFill>
          <a:ln w="12700">
            <a:solidFill>
              <a:srgbClr val="EC7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Text 9"/>
          <p:cNvSpPr txBox="1"/>
          <p:nvPr/>
        </p:nvSpPr>
        <p:spPr>
          <a:xfrm>
            <a:off x="64008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82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Juiz mais rigoroso: </a:t>
            </a:r>
            <a:r>
              <a:rPr lang="en-US" sz="1400" dirty="0">
                <a:solidFill>
                  <a:srgbClr val="B9B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reduzir a falsa aprovação com GEPA e mais exemplos de fronteira.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3BE56EA-E2C2-0447-A62E-95977D04C1B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4446715-7511-4c16-940b-f260c0b9c94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974</Words>
  <Application>Microsoft Macintosh PowerPoint</Application>
  <PresentationFormat>On-screen Show (16:9)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i.a na medida — Tecnologia</dc:title>
  <dc:subject>PptxGenJS Presentation</dc:subject>
  <dc:creator>PptxGenJS</dc:creator>
  <cp:lastModifiedBy>João Evangelista</cp:lastModifiedBy>
  <cp:revision>2</cp:revision>
  <dcterms:created xsi:type="dcterms:W3CDTF">2026-09-27T08:57:36Z</dcterms:created>
  <dcterms:modified xsi:type="dcterms:W3CDTF">2026-09-27T09:44:01Z</dcterms:modified>
</cp:coreProperties>
</file>